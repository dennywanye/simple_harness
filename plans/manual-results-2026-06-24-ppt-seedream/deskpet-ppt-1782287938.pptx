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强调证据边界：报告未提供AI编程工具或就业数据，只能建立讨论框架。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用来源[^1][^2]支撑系统理解能力，避免声称AI工具实际替代情况。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本页核心事实来自嵌入式系统材料，不扩展为未经支持的行业结论。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用嵌入式系统的组成与场景复杂性，引出诊断能力。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社会基础设施相关表述由[^2]支持，但安全性等为基于该背景的待核验延伸。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社区学习只能作为待验证方向，不能包装成有定量支持的结论。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本页用于保护论证边界，避免过度演绎。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收束为框架性结论，并明确后续需要补充更高质量证据。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enimg_20260624T075023_1782287423907009000.png"/>
          <p:cNvPicPr>
            <a:picLocks noChangeAspect="1"/>
          </p:cNvPicPr>
          <p:nvPr/>
        </p:nvPicPr>
        <p:blipFill>
          <a:blip r:embed="rId2"/>
          <a:srcRect t="7812" b="781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909060"/>
            <a:ext cx="9144000" cy="123444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91940"/>
            <a:ext cx="8010144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Microsoft YaHei"/>
              </a:rPr>
              <a:t>AI时代的核心竞争力：不是更快写代码，而是更会构建系统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4750308"/>
            <a:ext cx="797356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</a:rPr>
              <a:t>基于现有弱来源材料的讨论框架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480060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enimg_20260624T075133_1782287493812230000.png"/>
          <p:cNvPicPr>
            <a:picLocks noChangeAspect="1"/>
          </p:cNvPicPr>
          <p:nvPr/>
        </p:nvPicPr>
        <p:blipFill>
          <a:blip r:embed="rId2"/>
          <a:srcRect l="2000" r="2000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0080"/>
            <a:ext cx="54864" cy="5669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566928"/>
            <a:ext cx="329184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</a:rPr>
              <a:t>竞争力一：理解软硬件共同构成的系统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27632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22D3EE"/>
                </a:solidFill>
                <a:latin typeface="Microsoft YaHei"/>
              </a:rPr>
              <a:t>● </a:t>
            </a:r>
            <a:r>
              <a:rPr sz="1500">
                <a:solidFill>
                  <a:srgbClr val="F8FAFC"/>
                </a:solidFill>
                <a:latin typeface="Microsoft YaHei"/>
              </a:rPr>
              <a:t>调研材料指出，电子计算机由硬件系统和软件系统组成，未安装软件的计算机被称为裸机。[^2]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2D3EE"/>
                </a:solidFill>
                <a:latin typeface="Microsoft YaHei"/>
              </a:rPr>
              <a:t>● </a:t>
            </a:r>
            <a:r>
              <a:rPr sz="1500">
                <a:solidFill>
                  <a:srgbClr val="F8FAFC"/>
                </a:solidFill>
                <a:latin typeface="Microsoft YaHei"/>
              </a:rPr>
              <a:t>这说明程序员交付的不是代码文本本身，而是能在硬件、操作系统、依赖环境中稳定运行的能力。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2D3EE"/>
                </a:solidFill>
                <a:latin typeface="Microsoft YaHei"/>
              </a:rPr>
              <a:t>● </a:t>
            </a:r>
            <a:r>
              <a:rPr sz="1500">
                <a:solidFill>
                  <a:srgbClr val="F8FAFC"/>
                </a:solidFill>
                <a:latin typeface="Microsoft YaHei"/>
              </a:rPr>
              <a:t>嵌入式系统也由处理器、支撑硬件、嵌入式操作系统和应用软件系统组成，进一步强化了“系统整体性”的视角。[^1]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2D3EE"/>
                </a:solidFill>
                <a:latin typeface="Microsoft YaHei"/>
              </a:rPr>
              <a:t>● </a:t>
            </a:r>
            <a:r>
              <a:rPr sz="1500">
                <a:solidFill>
                  <a:srgbClr val="F8FAFC"/>
                </a:solidFill>
                <a:latin typeface="Microsoft YaHei"/>
              </a:rPr>
              <a:t>待核验假设：AI可以辅助生成局部代码，但对系统边界、运行环境和故障链路的理解仍是高价值能力。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480060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enimg_20260624T075242_1782287562208516300.png"/>
          <p:cNvPicPr>
            <a:picLocks noChangeAspect="1"/>
          </p:cNvPicPr>
          <p:nvPr/>
        </p:nvPicPr>
        <p:blipFill>
          <a:blip r:embed="rId2"/>
          <a:srcRect t="24688" b="24688"/>
          <a:stretch>
            <a:fillRect/>
          </a:stretch>
        </p:blipFill>
        <p:spPr>
          <a:xfrm>
            <a:off x="0" y="0"/>
            <a:ext cx="9144000" cy="30861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086100"/>
            <a:ext cx="9144000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32404"/>
            <a:ext cx="801014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竞争力二：面向真实应用做工程取舍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3835908"/>
            <a:ext cx="79552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22D3EE"/>
                </a:solidFill>
                <a:latin typeface="Microsoft YaHei"/>
              </a:rPr>
              <a:t>● </a:t>
            </a:r>
            <a:r>
              <a:rPr sz="1400">
                <a:solidFill>
                  <a:srgbClr val="0F172A"/>
                </a:solidFill>
                <a:latin typeface="Microsoft YaHei"/>
              </a:rPr>
              <a:t>嵌入式系统材料明确称其“以应用为中心”，并且软硬件可裁减。[^1]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2D3EE"/>
                </a:solidFill>
                <a:latin typeface="Microsoft YaHei"/>
              </a:rPr>
              <a:t>● </a:t>
            </a:r>
            <a:r>
              <a:rPr sz="1400">
                <a:solidFill>
                  <a:srgbClr val="0F172A"/>
                </a:solidFill>
                <a:latin typeface="Microsoft YaHei"/>
              </a:rPr>
              <a:t>同一来源指出，嵌入式系统需适应功能、可靠性、成本、体积、功耗等综合性严格要求。[^1]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2D3EE"/>
                </a:solidFill>
                <a:latin typeface="Microsoft YaHei"/>
              </a:rPr>
              <a:t>● </a:t>
            </a:r>
            <a:r>
              <a:rPr sz="1400">
                <a:solidFill>
                  <a:srgbClr val="0F172A"/>
                </a:solidFill>
                <a:latin typeface="Microsoft YaHei"/>
              </a:rPr>
              <a:t>这提示程序员的价值不只在于实现功能，还在于平衡性能、可靠性、资源限制和交付成本。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2D3EE"/>
                </a:solidFill>
                <a:latin typeface="Microsoft YaHei"/>
              </a:rPr>
              <a:t>● </a:t>
            </a:r>
            <a:r>
              <a:rPr sz="1400">
                <a:solidFill>
                  <a:srgbClr val="0F172A"/>
                </a:solidFill>
                <a:latin typeface="Microsoft YaHei"/>
              </a:rPr>
              <a:t>待核验假设：在AI提升实现效率后，能把业务目标翻译为工程约束并做出取舍的人，会更具长期竞争力。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480060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enimg_20260624T075403_1782287643141809700.png"/>
          <p:cNvPicPr>
            <a:picLocks noChangeAspect="1"/>
          </p:cNvPicPr>
          <p:nvPr/>
        </p:nvPicPr>
        <p:blipFill>
          <a:blip r:embed="rId2"/>
          <a:srcRect t="7812" b="781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754880" y="914400"/>
            <a:ext cx="4023360" cy="3383280"/>
          </a:xfrm>
          <a:prstGeom prst="roundRect">
            <a:avLst/>
          </a:prstGeom>
          <a:solidFill>
            <a:srgbClr val="0A101C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640080"/>
            <a:ext cx="54864" cy="5669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0" y="566928"/>
            <a:ext cx="320040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300" b="1">
                <a:solidFill>
                  <a:srgbClr val="F8FAFC"/>
                </a:solidFill>
                <a:latin typeface="Microsoft YaHei"/>
              </a:rPr>
              <a:t>竞争力三：跨越抽象层的诊断能力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627632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22D3EE"/>
                </a:solidFill>
                <a:latin typeface="Microsoft YaHei"/>
              </a:rPr>
              <a:t>● </a:t>
            </a:r>
            <a:r>
              <a:rPr sz="1500">
                <a:solidFill>
                  <a:srgbClr val="F8FAFC"/>
                </a:solidFill>
                <a:latin typeface="Microsoft YaHei"/>
              </a:rPr>
              <a:t>嵌入式系统被描述为通常不被称为计算机、但具有计算机功能的设备或器材。[^1]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2D3EE"/>
                </a:solidFill>
                <a:latin typeface="Microsoft YaHei"/>
              </a:rPr>
              <a:t>● </a:t>
            </a:r>
            <a:r>
              <a:rPr sz="1500">
                <a:solidFill>
                  <a:srgbClr val="F8FAFC"/>
                </a:solidFill>
                <a:latin typeface="Microsoft YaHei"/>
              </a:rPr>
              <a:t>这类场景中的问题往往横跨应用软件、操作系统、外设接口、支撑硬件与处理器，而不是单点代码缺陷。[^1]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2D3EE"/>
                </a:solidFill>
                <a:latin typeface="Microsoft YaHei"/>
              </a:rPr>
              <a:t>● </a:t>
            </a:r>
            <a:r>
              <a:rPr sz="1500">
                <a:solidFill>
                  <a:srgbClr val="F8FAFC"/>
                </a:solidFill>
                <a:latin typeface="Microsoft YaHei"/>
              </a:rPr>
              <a:t>程序员需要能把表层故障拆解为可验证假设，并在不同抽象层之间定位根因。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2D3EE"/>
                </a:solidFill>
                <a:latin typeface="Microsoft YaHei"/>
              </a:rPr>
              <a:t>● </a:t>
            </a:r>
            <a:r>
              <a:rPr sz="1500">
                <a:solidFill>
                  <a:srgbClr val="F8FAFC"/>
                </a:solidFill>
                <a:latin typeface="Microsoft YaHei"/>
              </a:rPr>
              <a:t>待核验假设：AI生成的候选修复越多，人工判断“哪一个修复真正适配系统约束”的能力越关键。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480060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enimg_20260624T075530_1782287730386938900.png"/>
          <p:cNvPicPr>
            <a:picLocks noChangeAspect="1"/>
          </p:cNvPicPr>
          <p:nvPr/>
        </p:nvPicPr>
        <p:blipFill>
          <a:blip r:embed="rId2"/>
          <a:srcRect l="2000" r="2000"/>
          <a:stretch>
            <a:fillRect/>
          </a:stretch>
        </p:blipFill>
        <p:spPr>
          <a:xfrm>
            <a:off x="0" y="0"/>
            <a:ext cx="493776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937760" y="0"/>
            <a:ext cx="4206240" cy="51435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0" y="640080"/>
            <a:ext cx="54864" cy="5669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0" y="566928"/>
            <a:ext cx="292608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</a:rPr>
              <a:t>竞争力四：把代码放回社会基础设施中理解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627632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22D3EE"/>
                </a:solidFill>
                <a:latin typeface="Microsoft YaHei"/>
              </a:rPr>
              <a:t>● </a:t>
            </a:r>
            <a:r>
              <a:rPr sz="1500">
                <a:solidFill>
                  <a:srgbClr val="F8FAFC"/>
                </a:solidFill>
                <a:latin typeface="Microsoft YaHei"/>
              </a:rPr>
              <a:t>调研材料称，计算机应用领域从最初的军事科研扩展到社会各个领域，并形成规模巨大的计算机产业。[^2]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2D3EE"/>
                </a:solidFill>
                <a:latin typeface="Microsoft YaHei"/>
              </a:rPr>
              <a:t>● </a:t>
            </a:r>
            <a:r>
              <a:rPr sz="1500">
                <a:solidFill>
                  <a:srgbClr val="F8FAFC"/>
                </a:solidFill>
                <a:latin typeface="Microsoft YaHei"/>
              </a:rPr>
              <a:t>同一材料还称，计算机进入学校、企事业单位和普通家庭，成为信息社会中必不可少的工具。[^2]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2D3EE"/>
                </a:solidFill>
                <a:latin typeface="Microsoft YaHei"/>
              </a:rPr>
              <a:t>● </a:t>
            </a:r>
            <a:r>
              <a:rPr sz="1500">
                <a:solidFill>
                  <a:srgbClr val="F8FAFC"/>
                </a:solidFill>
                <a:latin typeface="Microsoft YaHei"/>
              </a:rPr>
              <a:t>这意味着程序员交付的软件往往嵌入教育、企业、家庭与公共服务等真实使用场景。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2D3EE"/>
                </a:solidFill>
                <a:latin typeface="Microsoft YaHei"/>
              </a:rPr>
              <a:t>● </a:t>
            </a:r>
            <a:r>
              <a:rPr sz="1500">
                <a:solidFill>
                  <a:srgbClr val="F8FAFC"/>
                </a:solidFill>
                <a:latin typeface="Microsoft YaHei"/>
              </a:rPr>
              <a:t>待核验假设：AI时代的优秀程序员，需要更重视安全性、可维护性、可解释性和用户影响，而不仅是完成需求列表。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480060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enimg_20260624T075630_1782287790447693000.png"/>
          <p:cNvPicPr>
            <a:picLocks noChangeAspect="1"/>
          </p:cNvPicPr>
          <p:nvPr/>
        </p:nvPicPr>
        <p:blipFill>
          <a:blip r:embed="rId2"/>
          <a:srcRect l="2000" r="2000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0080"/>
            <a:ext cx="54864" cy="5669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566928"/>
            <a:ext cx="329184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Microsoft YaHei"/>
              </a:rPr>
              <a:t>竞争力五：持续学习与技术生态参与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27632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22D3EE"/>
                </a:solidFill>
                <a:latin typeface="Microsoft YaHei"/>
              </a:rPr>
              <a:t>● </a:t>
            </a:r>
            <a:r>
              <a:rPr sz="1500">
                <a:solidFill>
                  <a:srgbClr val="F8FAFC"/>
                </a:solidFill>
                <a:latin typeface="Microsoft YaHei"/>
              </a:rPr>
              <a:t>CSDN词条被描述为中国IT社区，目录包含技术社区、新媒体矩阵、CSDN学院、GitChat、高校俱乐部和行业研究成果等内容。[^3]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2D3EE"/>
                </a:solidFill>
                <a:latin typeface="Microsoft YaHei"/>
              </a:rPr>
              <a:t>● </a:t>
            </a:r>
            <a:r>
              <a:rPr sz="1500">
                <a:solidFill>
                  <a:srgbClr val="F8FAFC"/>
                </a:solidFill>
                <a:latin typeface="Microsoft YaHei"/>
              </a:rPr>
              <a:t>这些条目显示技术知识传播、学习平台和社区交流是技术生态的一部分，但不能直接证明其会提升个人竞争力。[^3]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2D3EE"/>
                </a:solidFill>
                <a:latin typeface="Microsoft YaHei"/>
              </a:rPr>
              <a:t>● </a:t>
            </a:r>
            <a:r>
              <a:rPr sz="1500">
                <a:solidFill>
                  <a:srgbClr val="F8FAFC"/>
                </a:solidFill>
                <a:latin typeface="Microsoft YaHei"/>
              </a:rPr>
              <a:t>在快速变化的技术环境中，待核验假设是：持续学习、复盘经验、参与社区和吸收行业知识，有助于降低能力过时风险。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2D3EE"/>
                </a:solidFill>
                <a:latin typeface="Microsoft YaHei"/>
              </a:rPr>
              <a:t>● </a:t>
            </a:r>
            <a:r>
              <a:rPr sz="1500">
                <a:solidFill>
                  <a:srgbClr val="F8FAFC"/>
                </a:solidFill>
                <a:latin typeface="Microsoft YaHei"/>
              </a:rPr>
              <a:t>程序员应区分“跟随热点”和“构建可迁移能力”：前者追工具，后者沉淀系统理解、工程判断和问题建模。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480060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enimg_20260624T075735_1782287855773104700.png"/>
          <p:cNvPicPr>
            <a:picLocks noChangeAspect="1"/>
          </p:cNvPicPr>
          <p:nvPr/>
        </p:nvPicPr>
        <p:blipFill>
          <a:blip r:embed="rId2"/>
          <a:srcRect t="24688" b="24688"/>
          <a:stretch>
            <a:fillRect/>
          </a:stretch>
        </p:blipFill>
        <p:spPr>
          <a:xfrm>
            <a:off x="0" y="0"/>
            <a:ext cx="9144000" cy="30861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086100"/>
            <a:ext cx="9144000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32404"/>
            <a:ext cx="801014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需要避免的误区：把弱证据包装成AI结论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3835908"/>
            <a:ext cx="79552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22D3EE"/>
                </a:solidFill>
                <a:latin typeface="Microsoft YaHei"/>
              </a:rPr>
              <a:t>● </a:t>
            </a:r>
            <a:r>
              <a:rPr sz="1400">
                <a:solidFill>
                  <a:srgbClr val="0F172A"/>
                </a:solidFill>
                <a:latin typeface="Microsoft YaHei"/>
              </a:rPr>
              <a:t>调研报告明确指出，现有三段材料都没有提供AI工具、自动化编程、就业变化或生产率影响的事实依据。[^1][^2][^3]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2D3EE"/>
                </a:solidFill>
                <a:latin typeface="Microsoft YaHei"/>
              </a:rPr>
              <a:t>● </a:t>
            </a:r>
            <a:r>
              <a:rPr sz="1400">
                <a:solidFill>
                  <a:srgbClr val="0F172A"/>
                </a:solidFill>
                <a:latin typeface="Microsoft YaHei"/>
              </a:rPr>
              <a:t>因此不能据此断言“AI会替代某类程序员”或“某项能力已成为行业共识”。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2D3EE"/>
                </a:solidFill>
                <a:latin typeface="Microsoft YaHei"/>
              </a:rPr>
              <a:t>● </a:t>
            </a:r>
            <a:r>
              <a:rPr sz="1400">
                <a:solidFill>
                  <a:srgbClr val="0F172A"/>
                </a:solidFill>
                <a:latin typeface="Microsoft YaHei"/>
              </a:rPr>
              <a:t>材料来源层级均被标注为“来源不明（弱）”，适合用于概念背景，不适合支撑强定量结论。[^1][^2][^3]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2D3EE"/>
                </a:solidFill>
                <a:latin typeface="Microsoft YaHei"/>
              </a:rPr>
              <a:t>● </a:t>
            </a:r>
            <a:r>
              <a:rPr sz="1400">
                <a:solidFill>
                  <a:srgbClr val="0F172A"/>
                </a:solidFill>
                <a:latin typeface="Microsoft YaHei"/>
              </a:rPr>
              <a:t>更严谨的PPT表达方式是：把AI相关判断标注为待核验假设，并把已支持事实与推论清晰分开。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480060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65392" y="566928"/>
            <a:ext cx="1591056" cy="950976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8" y="3767328"/>
            <a:ext cx="585216" cy="5852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1188720"/>
            <a:ext cx="7040880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4200" b="1">
                <a:solidFill>
                  <a:srgbClr val="F8FAFC"/>
                </a:solidFill>
                <a:latin typeface="Microsoft YaHei"/>
              </a:rPr>
              <a:t>结论：程序员的护城河是系统化解决问题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6" y="2231136"/>
            <a:ext cx="6144768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0">
                <a:solidFill>
                  <a:srgbClr val="94A3B8"/>
                </a:solidFill>
                <a:latin typeface="Microsoft YaHei"/>
              </a:rPr>
              <a:t>以证据为边界，以能力为主线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127248"/>
            <a:ext cx="190195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Microsoft YaHei"/>
              </a:rPr>
              <a:t>在现有材料范围内，最稳妥的结论是：程序员核心竞争力可被组织为系统理解、工程取舍、跨层诊断和持续学习四类能力。[^1][^2][^3]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3127248"/>
            <a:ext cx="190195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Microsoft YaHei"/>
              </a:rPr>
              <a:t>系统理解来自计算机软硬件构成与嵌入式系统组成的共同线索。[^1][^2]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3127248"/>
            <a:ext cx="190195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Microsoft YaHei"/>
              </a:rPr>
              <a:t>工程取舍来自嵌入式系统“以应用为中心”以及功能、可靠性、成本、体积、功耗等约束。[^1]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80060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在AI时代，程序员的核心竞争力是什么？</dc:title>
  <dc:subject/>
  <dc:creator>DeskPet</dc:creator>
  <cp:keywords/>
  <dc:description>generated using python-pptx</dc:description>
  <cp:lastModifiedBy>DeskPet</cp:lastModifiedBy>
  <cp:revision>1</cp:revision>
  <dcterms:created xsi:type="dcterms:W3CDTF">2013-01-27T09:14:16Z</dcterms:created>
  <dcterms:modified xsi:type="dcterms:W3CDTF">2013-01-27T09:15:58Z</dcterms:modified>
  <cp:category/>
</cp:coreProperties>
</file>